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91695" cy="0"/>
          </a:xfrm>
          <a:prstGeom prst="line">
            <a:avLst/>
          </a:prstGeom>
          <a:noFill/>
          <a:ln w="12700">
            <a:solidFill>
              <a:srgbClr val="D8E6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0196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Colorado Victim Resources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D5E"/>
                </a:solidFill>
              </a:rPr>
              <a:t>Colorado Victim Resources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13716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Public resource site + admin portal overview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13232" y="19659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Deployed site: https://erievictimsadvocate.netlify.app/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Admin portal: https://erievictimsadvocate.netlify.app/admin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926080"/>
            <a:ext cx="566928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400" dirty="0">
                <a:solidFill>
                  <a:srgbClr val="1E293B"/>
                </a:solidFill>
              </a:rPr>
              <a:t>Helps volunteer advocates and community members find victim-support resources quickly.</a:t>
            </a:r>
            <a:endParaRPr lang="en-US" sz="1400" dirty="0"/>
          </a:p>
          <a:p>
            <a:r>
              <a:rPr lang="en-US" sz="1400" dirty="0">
                <a:solidFill>
                  <a:srgbClr val="1E293B"/>
                </a:solidFill>
              </a:rPr>
              <a:t>Provides a maintainable admin portal for brochures, categories, field guide content, admin invites, and team updates.</a:t>
            </a:r>
            <a:endParaRPr lang="en-US" sz="1400" dirty="0"/>
          </a:p>
          <a:p>
            <a:r>
              <a:rPr lang="en-US" sz="1400" dirty="0">
                <a:solidFill>
                  <a:srgbClr val="1E293B"/>
                </a:solidFill>
              </a:rPr>
              <a:t>Designed for mobile use, accessibility, quick resource sharing, and safe exit behavior.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76288" y="777240"/>
            <a:ext cx="4626864" cy="3236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</p:spPr>
      </p:sp>
      <p:pic>
        <p:nvPicPr>
          <p:cNvPr id="7" name="Image 0" descr="C:\Users\avish\OneDrive\Desktop\VictimsAdvocate\docs\presentation\screenshots\public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804672"/>
            <a:ext cx="4572000" cy="31821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299448" y="4105656"/>
            <a:ext cx="1700784" cy="2386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</p:spPr>
      </p:sp>
      <p:pic>
        <p:nvPicPr>
          <p:cNvPr id="9" name="Image 1" descr="C:\Users\avish\OneDrive\Desktop\VictimsAdvocate\docs\presentation\screenshots\public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133088"/>
            <a:ext cx="1645920" cy="2331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D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Site: Searchable Resource Library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public site is the front door for finding and sharing support resources.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6181344" cy="4306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</p:spPr>
      </p:sp>
      <p:pic>
        <p:nvPicPr>
          <p:cNvPr id="5" name="Image 0" descr="C:\Users\avish\OneDrive\Desktop\VictimsAdvocate\docs\presentation\screenshots\public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6126480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86600" y="1417320"/>
            <a:ext cx="438912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300" dirty="0">
                <a:solidFill>
                  <a:srgbClr val="1E293B"/>
                </a:solidFill>
              </a:rPr>
              <a:t>Search by title, description, or tag from the home page or menu.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</a:rPr>
              <a:t>Browse resource categories when the user is not sure what to search for.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</a:rPr>
              <a:t>Featured resources help surface common or high-priority information.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</a:rPr>
              <a:t>Clickable phone numbers support tap-to-call behavior on mobile devices.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086600" y="4526280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E6F1FB"/>
          </a:solidFill>
          <a:ln w="12700">
            <a:solidFill>
              <a:srgbClr val="E6F1F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96328" y="459943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D5E"/>
                </a:solidFill>
              </a:rPr>
              <a:t>Public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9098280" y="4526280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EAF6EE"/>
          </a:solidFill>
          <a:ln w="12700">
            <a:solidFill>
              <a:srgbClr val="EAF6EE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08008" y="459943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7647"/>
                </a:solidFill>
              </a:rPr>
              <a:t>Mobile friendly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D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Mobile Navigation and Accessibility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hamburger menu prioritizes search first, then navigation and safety actions.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5724144" cy="3986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</p:spPr>
      </p:sp>
      <p:pic>
        <p:nvPicPr>
          <p:cNvPr id="5" name="Image 0" descr="C:\Users\avish\OneDrive\Desktop\VictimsAdvocate\docs\presentation\screenshots\public-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566928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56248" y="960120"/>
            <a:ext cx="2203704" cy="5495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</p:spPr>
      </p:sp>
      <p:pic>
        <p:nvPicPr>
          <p:cNvPr id="7" name="Image 1" descr="C:\Users\avish\OneDrive\Desktop\VictimsAdvocate\docs\presentation\screenshots\public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987552"/>
            <a:ext cx="2148840" cy="5440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98280" y="1234440"/>
            <a:ext cx="256032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200" dirty="0">
                <a:solidFill>
                  <a:srgbClr val="1E293B"/>
                </a:solidFill>
              </a:rPr>
              <a:t>Search is first in the menu so users can act quickly.</a:t>
            </a:r>
            <a:endParaRPr lang="en-US" sz="1200" dirty="0"/>
          </a:p>
          <a:p>
            <a:r>
              <a:rPr lang="en-US" sz="1200" dirty="0">
                <a:solidFill>
                  <a:srgbClr val="1E293B"/>
                </a:solidFill>
              </a:rPr>
              <a:t>Text size control is available in the header.</a:t>
            </a:r>
            <a:endParaRPr lang="en-US" sz="1200" dirty="0"/>
          </a:p>
          <a:p>
            <a:r>
              <a:rPr lang="en-US" sz="1200" dirty="0">
                <a:solidFill>
                  <a:srgbClr val="1E293B"/>
                </a:solidFill>
              </a:rPr>
              <a:t>Language selector is compact and available in the drawer.</a:t>
            </a:r>
            <a:endParaRPr lang="en-US" sz="1200" dirty="0"/>
          </a:p>
          <a:p>
            <a:r>
              <a:rPr lang="en-US" sz="1200" dirty="0">
                <a:solidFill>
                  <a:srgbClr val="1E293B"/>
                </a:solidFill>
              </a:rPr>
              <a:t>Quick Exit gives users a fast way to leave the site.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D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Resources and Wiki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Resources support public browsing; Wiki explains how the site and admin tools work.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5358384" cy="3739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</p:spPr>
      </p:sp>
      <p:pic>
        <p:nvPicPr>
          <p:cNvPr id="5" name="Image 0" descr="C:\Users\avish\OneDrive\Desktop\VictimsAdvocate\docs\presentation\screenshots\public-resour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5303520" cy="3685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81928" y="1207008"/>
            <a:ext cx="5358384" cy="3739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</p:spPr>
      </p:sp>
      <p:pic>
        <p:nvPicPr>
          <p:cNvPr id="7" name="Image 1" descr="C:\Users\avish\OneDrive\Desktop\VictimsAdvocate\docs\presentation\screenshots\public-wik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303520" cy="3685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5257800"/>
            <a:ext cx="106984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200" dirty="0">
                <a:solidFill>
                  <a:srgbClr val="1E293B"/>
                </a:solidFill>
              </a:rPr>
              <a:t>Resources page: category filtering, searching, resource cards, and multi-select sharing.</a:t>
            </a:r>
            <a:endParaRPr lang="en-US" sz="1200" dirty="0"/>
          </a:p>
          <a:p>
            <a:r>
              <a:rPr lang="en-US" sz="1200" dirty="0">
                <a:solidFill>
                  <a:srgbClr val="1E293B"/>
                </a:solidFill>
              </a:rPr>
              <a:t>Wiki page: plain-language explanation of public and admin functionality without internal implementation details.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D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 and Safety Information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Contact information is visible, readable, and actionable from the public site.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161288"/>
            <a:ext cx="5769864" cy="4032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</p:spPr>
      </p:sp>
      <p:pic>
        <p:nvPicPr>
          <p:cNvPr id="5" name="Image 0" descr="C:\Users\avish\OneDrive\Desktop\VictimsAdvocate\docs\presentation\screenshots\public-cont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571500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20840" y="1417320"/>
            <a:ext cx="438912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300" dirty="0">
                <a:solidFill>
                  <a:srgbClr val="1E293B"/>
                </a:solidFill>
              </a:rPr>
              <a:t>After-hours, office, victim-rights, hotline, and emergency numbers are clickable telephone links.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</a:rPr>
              <a:t>Contact cards make core numbers easy to scan on desktop and mobile.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</a:rPr>
              <a:t>Emergency messaging clearly states that the site is not an emergency reporting tool.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</a:rPr>
              <a:t>Victim Rights Act information links to the official Colorado resource.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D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Portal: Controlled Maintenance Area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Approved admins maintain the resource system behind the public experience.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207008"/>
            <a:ext cx="5449824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</p:spPr>
      </p:sp>
      <p:pic>
        <p:nvPicPr>
          <p:cNvPr id="5" name="Image 0" descr="C:\Users\avish\OneDrive\Desktop\VictimsAdvocate\docs\presentation\screenshots\admin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539496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92240" y="1325880"/>
            <a:ext cx="457200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300" dirty="0">
                <a:solidFill>
                  <a:srgbClr val="1E293B"/>
                </a:solidFill>
              </a:rPr>
              <a:t>Dashboard: totals, recent uploads, and quick edit/share actions.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</a:rPr>
              <a:t>Brochures: add, edit, feature, delete, restore, and permanently remove resources.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</a:rPr>
              <a:t>Categories: maintain public resource filters and visual symbols.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</a:rPr>
              <a:t>Invites: invite-only admin registration and admin user management.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92240" y="4754880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01968" y="482803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4054"/>
                </a:solidFill>
              </a:rPr>
              <a:t>Admin portal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D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Volunteer Advocate Field Guide and Message Board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Admin tools support the operational side of volunteer advocate work.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512064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400" dirty="0">
                <a:solidFill>
                  <a:srgbClr val="1E293B"/>
                </a:solidFill>
              </a:rPr>
              <a:t>Tutorial: onboarding checklist and repeatable admin/advocate workflows.</a:t>
            </a:r>
            <a:endParaRPr lang="en-US" sz="1400" dirty="0"/>
          </a:p>
          <a:p>
            <a:r>
              <a:rPr lang="en-US" sz="1400" dirty="0">
                <a:solidFill>
                  <a:srgbClr val="1E293B"/>
                </a:solidFill>
              </a:rPr>
              <a:t>Volunteer Advocate Resources: searchable field guide with mobile-friendly table of contents and section submenus.</a:t>
            </a:r>
            <a:endParaRPr lang="en-US" sz="1400" dirty="0"/>
          </a:p>
          <a:p>
            <a:r>
              <a:rPr lang="en-US" sz="1400" dirty="0">
                <a:solidFill>
                  <a:srgbClr val="1E293B"/>
                </a:solidFill>
              </a:rPr>
              <a:t>Message Board: internal team announcements, shift notes, and resource updates.</a:t>
            </a:r>
            <a:endParaRPr lang="en-US" sz="1400" dirty="0"/>
          </a:p>
          <a:p>
            <a:r>
              <a:rPr lang="en-US" sz="1400" dirty="0">
                <a:solidFill>
                  <a:srgbClr val="1E293B"/>
                </a:solidFill>
              </a:rPr>
              <a:t>Help: admin-facing guide for how to use the portal and maintain content.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1234440"/>
            <a:ext cx="475488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20840" y="1572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D5E"/>
                </a:solidFill>
              </a:rPr>
              <a:t>Admin Workflow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720840" y="2057400"/>
            <a:ext cx="3977640" cy="292608"/>
          </a:xfrm>
          <a:prstGeom prst="roundRect">
            <a:avLst>
              <a:gd name="adj" fmla="val 18750"/>
            </a:avLst>
          </a:prstGeom>
          <a:solidFill>
            <a:srgbClr val="E6F1FB"/>
          </a:solidFill>
          <a:ln w="12700">
            <a:solidFill>
              <a:srgbClr val="C7DF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76288" y="2121408"/>
            <a:ext cx="3611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Upload resource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720840" y="2496312"/>
            <a:ext cx="3977640" cy="292608"/>
          </a:xfrm>
          <a:prstGeom prst="roundRect">
            <a:avLst>
              <a:gd name="adj" fmla="val 18750"/>
            </a:avLst>
          </a:prstGeom>
          <a:solidFill>
            <a:srgbClr val="F7FBFF"/>
          </a:solidFill>
          <a:ln w="12700">
            <a:solidFill>
              <a:srgbClr val="C7DF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76288" y="2560320"/>
            <a:ext cx="3611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Organize category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720840" y="2935224"/>
            <a:ext cx="3977640" cy="292608"/>
          </a:xfrm>
          <a:prstGeom prst="roundRect">
            <a:avLst>
              <a:gd name="adj" fmla="val 18750"/>
            </a:avLst>
          </a:prstGeom>
          <a:solidFill>
            <a:srgbClr val="E6F1FB"/>
          </a:solidFill>
          <a:ln w="12700">
            <a:solidFill>
              <a:srgbClr val="C7DF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76288" y="2999232"/>
            <a:ext cx="3611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Update field guide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20840" y="3374136"/>
            <a:ext cx="3977640" cy="292608"/>
          </a:xfrm>
          <a:prstGeom prst="roundRect">
            <a:avLst>
              <a:gd name="adj" fmla="val 18750"/>
            </a:avLst>
          </a:prstGeom>
          <a:solidFill>
            <a:srgbClr val="F7FBFF"/>
          </a:solidFill>
          <a:ln w="12700">
            <a:solidFill>
              <a:srgbClr val="C7DF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76288" y="3438144"/>
            <a:ext cx="3611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Invite admins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20840" y="3813048"/>
            <a:ext cx="3977640" cy="292608"/>
          </a:xfrm>
          <a:prstGeom prst="roundRect">
            <a:avLst>
              <a:gd name="adj" fmla="val 18750"/>
            </a:avLst>
          </a:prstGeom>
          <a:solidFill>
            <a:srgbClr val="E6F1FB"/>
          </a:solidFill>
          <a:ln w="12700">
            <a:solidFill>
              <a:srgbClr val="C7DF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76288" y="3877056"/>
            <a:ext cx="3611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Share team message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D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and Test Coverage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project is deployed through GitHub-based version control and Netlify hosting.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640080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350" dirty="0">
                <a:solidFill>
                  <a:srgbClr val="1E293B"/>
                </a:solidFill>
              </a:rPr>
              <a:t>Built with React and Vite for the frontend experience.</a:t>
            </a:r>
            <a:endParaRPr lang="en-US" sz="1350" dirty="0"/>
          </a:p>
          <a:p>
            <a:r>
              <a:rPr lang="en-US" sz="1350" dirty="0">
                <a:solidFill>
                  <a:srgbClr val="1E293B"/>
                </a:solidFill>
              </a:rPr>
              <a:t>Uses Supabase for authentication, data, storage, and serverless email/invite functions.</a:t>
            </a:r>
            <a:endParaRPr lang="en-US" sz="1350" dirty="0"/>
          </a:p>
          <a:p>
            <a:r>
              <a:rPr lang="en-US" sz="1350" dirty="0">
                <a:solidFill>
                  <a:srgbClr val="1E293B"/>
                </a:solidFill>
              </a:rPr>
              <a:t>Deployed at https://erievictimsadvocate.netlify.app/.</a:t>
            </a:r>
            <a:endParaRPr lang="en-US" sz="1350" dirty="0"/>
          </a:p>
          <a:p>
            <a:r>
              <a:rPr lang="en-US" sz="1350" dirty="0">
                <a:solidFill>
                  <a:srgbClr val="1E293B"/>
                </a:solidFill>
              </a:rPr>
              <a:t>Admin portal is available at https://erievictimsadvocate.netlify.app/admin.</a:t>
            </a:r>
            <a:endParaRPr lang="en-US" sz="1350" dirty="0"/>
          </a:p>
          <a:p>
            <a:r>
              <a:rPr lang="en-US" sz="1350" dirty="0">
                <a:solidFill>
                  <a:srgbClr val="1E293B"/>
                </a:solidFill>
              </a:rPr>
              <a:t>Validated with production builds and API/integration tests for upload/edit, invite validation, field guide management, message board access, and email workflows.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818120" y="1325880"/>
            <a:ext cx="34747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16642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D5E"/>
                </a:solidFill>
              </a:rPr>
              <a:t>Testing Used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0" y="2148840"/>
            <a:ext cx="265176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150" dirty="0">
                <a:solidFill>
                  <a:srgbClr val="1E293B"/>
                </a:solidFill>
              </a:rPr>
              <a:t>npm run build</a:t>
            </a:r>
            <a:endParaRPr lang="en-US" sz="1150" dirty="0"/>
          </a:p>
          <a:p>
            <a:r>
              <a:rPr lang="en-US" sz="1150" dirty="0">
                <a:solidFill>
                  <a:srgbClr val="1E293B"/>
                </a:solidFill>
              </a:rPr>
              <a:t>Integration tests</a:t>
            </a:r>
            <a:endParaRPr lang="en-US" sz="1150" dirty="0"/>
          </a:p>
          <a:p>
            <a:r>
              <a:rPr lang="en-US" sz="1150" dirty="0">
                <a:solidFill>
                  <a:srgbClr val="1E293B"/>
                </a:solidFill>
              </a:rPr>
              <a:t>Supabase API workflows</a:t>
            </a:r>
            <a:endParaRPr lang="en-US" sz="1150" dirty="0"/>
          </a:p>
          <a:p>
            <a:r>
              <a:rPr lang="en-US" sz="1150" dirty="0">
                <a:solidFill>
                  <a:srgbClr val="1E293B"/>
                </a:solidFill>
              </a:rPr>
              <a:t>Email function test</a:t>
            </a:r>
            <a:endParaRPr lang="en-US" sz="1150" dirty="0"/>
          </a:p>
          <a:p>
            <a:r>
              <a:rPr lang="en-US" sz="1150" dirty="0">
                <a:solidFill>
                  <a:srgbClr val="1E293B"/>
                </a:solidFill>
              </a:rPr>
              <a:t>Admin message board test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D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Goal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Make resource access faster for advocates and easier to maintain for the team.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804672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600" dirty="0">
                <a:solidFill>
                  <a:srgbClr val="1E293B"/>
                </a:solidFill>
              </a:rPr>
              <a:t>Public users can search, browse, call, share, and understand the site from mobile or desktop.</a:t>
            </a:r>
            <a:endParaRPr lang="en-US" sz="1600" dirty="0"/>
          </a:p>
          <a:p>
            <a:r>
              <a:rPr lang="en-US" sz="1600" dirty="0">
                <a:solidFill>
                  <a:srgbClr val="1E293B"/>
                </a:solidFill>
              </a:rPr>
              <a:t>Admins can keep resources, field guide content, and team information current.</a:t>
            </a:r>
            <a:endParaRPr lang="en-US" sz="1600" dirty="0"/>
          </a:p>
          <a:p>
            <a:r>
              <a:rPr lang="en-US" sz="1600" dirty="0">
                <a:solidFill>
                  <a:srgbClr val="1E293B"/>
                </a:solidFill>
              </a:rPr>
              <a:t>The product reduces scattered documents and gives the volunteer advocate program one maintained digital hub.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96112" y="3977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5E"/>
                </a:solidFill>
              </a:rPr>
              <a:t>Links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4407408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Public: https://erievictimsadvocate.netlify.app/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Admin: https://erievictimsadvocate.netlify.app/admin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Colorado Victim Resources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Colorado Victim Resources Overview</dc:title>
  <dc:subject>Public and admin site overview</dc:subject>
  <dc:creator>Colorado Victim Resources</dc:creator>
  <cp:lastModifiedBy>Colorado Victim Resources</cp:lastModifiedBy>
  <cp:revision>1</cp:revision>
  <dcterms:created xsi:type="dcterms:W3CDTF">2026-07-09T19:51:35Z</dcterms:created>
  <dcterms:modified xsi:type="dcterms:W3CDTF">2026-07-09T19:51:35Z</dcterms:modified>
</cp:coreProperties>
</file>